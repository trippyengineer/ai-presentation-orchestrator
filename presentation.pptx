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60" r:id="rId4"/>
    <p:sldId id="262" r:id="rId5"/>
    <p:sldId id="263" r:id="rId6"/>
    <p:sldId id="264" r:id="rId7"/>
    <p:sldId id="258" r:id="rId8"/>
    <p:sldId id="265" r:id="rId9"/>
    <p:sldId id="266" r:id="rId10"/>
    <p:sldId id="267" r:id="rId11"/>
    <p:sldId id="268" r:id="rId12"/>
    <p:sldId id="269" r:id="rId13"/>
    <p:sldId id="270" r:id="rId14"/>
    <p:sldId id="261" r:id="rId15"/>
    <p:sldId id="272" r:id="rId16"/>
    <p:sldId id="273" r:id="rId17"/>
    <p:sldId id="274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F19A11-69C0-4C6D-9DCB-51D9ED6A0A6D}" v="4" dt="2026-02-24T07:35:17.3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623" autoAdjust="0"/>
    <p:restoredTop sz="94610"/>
  </p:normalViewPr>
  <p:slideViewPr>
    <p:cSldViewPr snapToGrid="0" snapToObjects="1">
      <p:cViewPr>
        <p:scale>
          <a:sx n="140" d="100"/>
          <a:sy n="140" d="100"/>
        </p:scale>
        <p:origin x="29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nav Goyal (Consultant)" userId="75f79a6f-533a-478b-9577-3fa7c8d57ecb" providerId="ADAL" clId="{96A95975-A6BE-4984-B49E-3349A4584182}"/>
    <pc:docChg chg="undo custSel delSld modSld sldOrd">
      <pc:chgData name="Abhinav Goyal (Consultant)" userId="75f79a6f-533a-478b-9577-3fa7c8d57ecb" providerId="ADAL" clId="{96A95975-A6BE-4984-B49E-3349A4584182}" dt="2026-02-24T12:10:17.436" v="96" actId="20577"/>
      <pc:docMkLst>
        <pc:docMk/>
      </pc:docMkLst>
      <pc:sldChg chg="modSp mod">
        <pc:chgData name="Abhinav Goyal (Consultant)" userId="75f79a6f-533a-478b-9577-3fa7c8d57ecb" providerId="ADAL" clId="{96A95975-A6BE-4984-B49E-3349A4584182}" dt="2026-02-24T07:27:30.391" v="3"/>
        <pc:sldMkLst>
          <pc:docMk/>
          <pc:sldMk cId="0" sldId="256"/>
        </pc:sldMkLst>
        <pc:spChg chg="mod">
          <ac:chgData name="Abhinav Goyal (Consultant)" userId="75f79a6f-533a-478b-9577-3fa7c8d57ecb" providerId="ADAL" clId="{96A95975-A6BE-4984-B49E-3349A4584182}" dt="2026-02-24T07:27:30.391" v="3"/>
          <ac:spMkLst>
            <pc:docMk/>
            <pc:sldMk cId="0" sldId="256"/>
            <ac:spMk id="7" creationId="{00000000-0000-0000-0000-000000000000}"/>
          </ac:spMkLst>
        </pc:spChg>
      </pc:sldChg>
      <pc:sldChg chg="addSp modSp mod">
        <pc:chgData name="Abhinav Goyal (Consultant)" userId="75f79a6f-533a-478b-9577-3fa7c8d57ecb" providerId="ADAL" clId="{96A95975-A6BE-4984-B49E-3349A4584182}" dt="2026-02-24T07:29:30.688" v="41" actId="20577"/>
        <pc:sldMkLst>
          <pc:docMk/>
          <pc:sldMk cId="0" sldId="257"/>
        </pc:sldMkLst>
        <pc:spChg chg="add mod">
          <ac:chgData name="Abhinav Goyal (Consultant)" userId="75f79a6f-533a-478b-9577-3fa7c8d57ecb" providerId="ADAL" clId="{96A95975-A6BE-4984-B49E-3349A4584182}" dt="2026-02-24T07:29:30.688" v="41" actId="20577"/>
          <ac:spMkLst>
            <pc:docMk/>
            <pc:sldMk cId="0" sldId="257"/>
            <ac:spMk id="2" creationId="{DE3570D0-ABB1-047B-CCC4-C3456E8DE9F9}"/>
          </ac:spMkLst>
        </pc:spChg>
      </pc:sldChg>
      <pc:sldChg chg="modSp mod ord">
        <pc:chgData name="Abhinav Goyal (Consultant)" userId="75f79a6f-533a-478b-9577-3fa7c8d57ecb" providerId="ADAL" clId="{96A95975-A6BE-4984-B49E-3349A4584182}" dt="2026-02-24T12:10:17.436" v="96" actId="20577"/>
        <pc:sldMkLst>
          <pc:docMk/>
          <pc:sldMk cId="0" sldId="258"/>
        </pc:sldMkLst>
        <pc:spChg chg="mod">
          <ac:chgData name="Abhinav Goyal (Consultant)" userId="75f79a6f-533a-478b-9577-3fa7c8d57ecb" providerId="ADAL" clId="{96A95975-A6BE-4984-B49E-3349A4584182}" dt="2026-02-24T12:10:17.436" v="96" actId="20577"/>
          <ac:spMkLst>
            <pc:docMk/>
            <pc:sldMk cId="0" sldId="258"/>
            <ac:spMk id="3" creationId="{00000000-0000-0000-0000-000000000000}"/>
          </ac:spMkLst>
        </pc:spChg>
      </pc:sldChg>
      <pc:sldChg chg="ord">
        <pc:chgData name="Abhinav Goyal (Consultant)" userId="75f79a6f-533a-478b-9577-3fa7c8d57ecb" providerId="ADAL" clId="{96A95975-A6BE-4984-B49E-3349A4584182}" dt="2026-02-24T07:27:42.254" v="5"/>
        <pc:sldMkLst>
          <pc:docMk/>
          <pc:sldMk cId="0" sldId="259"/>
        </pc:sldMkLst>
      </pc:sldChg>
      <pc:sldChg chg="ord">
        <pc:chgData name="Abhinav Goyal (Consultant)" userId="75f79a6f-533a-478b-9577-3fa7c8d57ecb" providerId="ADAL" clId="{96A95975-A6BE-4984-B49E-3349A4584182}" dt="2026-02-24T07:30:10.540" v="45"/>
        <pc:sldMkLst>
          <pc:docMk/>
          <pc:sldMk cId="0" sldId="261"/>
        </pc:sldMkLst>
      </pc:sldChg>
      <pc:sldChg chg="modSp mod">
        <pc:chgData name="Abhinav Goyal (Consultant)" userId="75f79a6f-533a-478b-9577-3fa7c8d57ecb" providerId="ADAL" clId="{96A95975-A6BE-4984-B49E-3349A4584182}" dt="2026-02-24T07:35:19.778" v="77" actId="20577"/>
        <pc:sldMkLst>
          <pc:docMk/>
          <pc:sldMk cId="0" sldId="263"/>
        </pc:sldMkLst>
        <pc:spChg chg="mod">
          <ac:chgData name="Abhinav Goyal (Consultant)" userId="75f79a6f-533a-478b-9577-3fa7c8d57ecb" providerId="ADAL" clId="{96A95975-A6BE-4984-B49E-3349A4584182}" dt="2026-02-24T07:35:19.778" v="77" actId="20577"/>
          <ac:spMkLst>
            <pc:docMk/>
            <pc:sldMk cId="0" sldId="263"/>
            <ac:spMk id="107" creationId="{00000000-0000-0000-0000-000000000000}"/>
          </ac:spMkLst>
        </pc:spChg>
      </pc:sldChg>
      <pc:sldChg chg="del">
        <pc:chgData name="Abhinav Goyal (Consultant)" userId="75f79a6f-533a-478b-9577-3fa7c8d57ecb" providerId="ADAL" clId="{96A95975-A6BE-4984-B49E-3349A4584182}" dt="2026-02-24T07:36:21.340" v="78" actId="47"/>
        <pc:sldMkLst>
          <pc:docMk/>
          <pc:sldMk cId="0" sldId="271"/>
        </pc:sldMkLst>
      </pc:sldChg>
      <pc:sldChg chg="addSp delSp modSp mod">
        <pc:chgData name="Abhinav Goyal (Consultant)" userId="75f79a6f-533a-478b-9577-3fa7c8d57ecb" providerId="ADAL" clId="{96A95975-A6BE-4984-B49E-3349A4584182}" dt="2026-02-24T07:32:17.985" v="65" actId="20577"/>
        <pc:sldMkLst>
          <pc:docMk/>
          <pc:sldMk cId="0" sldId="272"/>
        </pc:sldMkLst>
        <pc:spChg chg="mod">
          <ac:chgData name="Abhinav Goyal (Consultant)" userId="75f79a6f-533a-478b-9577-3fa7c8d57ecb" providerId="ADAL" clId="{96A95975-A6BE-4984-B49E-3349A4584182}" dt="2026-02-24T07:31:58.912" v="57" actId="20577"/>
          <ac:spMkLst>
            <pc:docMk/>
            <pc:sldMk cId="0" sldId="272"/>
            <ac:spMk id="3" creationId="{00000000-0000-0000-0000-000000000000}"/>
          </ac:spMkLst>
        </pc:spChg>
        <pc:spChg chg="add del">
          <ac:chgData name="Abhinav Goyal (Consultant)" userId="75f79a6f-533a-478b-9577-3fa7c8d57ecb" providerId="ADAL" clId="{96A95975-A6BE-4984-B49E-3349A4584182}" dt="2026-02-24T07:31:46.878" v="48" actId="478"/>
          <ac:spMkLst>
            <pc:docMk/>
            <pc:sldMk cId="0" sldId="272"/>
            <ac:spMk id="10" creationId="{00000000-0000-0000-0000-000000000000}"/>
          </ac:spMkLst>
        </pc:spChg>
        <pc:spChg chg="del">
          <ac:chgData name="Abhinav Goyal (Consultant)" userId="75f79a6f-533a-478b-9577-3fa7c8d57ecb" providerId="ADAL" clId="{96A95975-A6BE-4984-B49E-3349A4584182}" dt="2026-02-24T07:31:51.707" v="51" actId="478"/>
          <ac:spMkLst>
            <pc:docMk/>
            <pc:sldMk cId="0" sldId="272"/>
            <ac:spMk id="11" creationId="{00000000-0000-0000-0000-000000000000}"/>
          </ac:spMkLst>
        </pc:spChg>
        <pc:spChg chg="del">
          <ac:chgData name="Abhinav Goyal (Consultant)" userId="75f79a6f-533a-478b-9577-3fa7c8d57ecb" providerId="ADAL" clId="{96A95975-A6BE-4984-B49E-3349A4584182}" dt="2026-02-24T07:31:46.878" v="48" actId="478"/>
          <ac:spMkLst>
            <pc:docMk/>
            <pc:sldMk cId="0" sldId="272"/>
            <ac:spMk id="12" creationId="{00000000-0000-0000-0000-000000000000}"/>
          </ac:spMkLst>
        </pc:spChg>
        <pc:spChg chg="del">
          <ac:chgData name="Abhinav Goyal (Consultant)" userId="75f79a6f-533a-478b-9577-3fa7c8d57ecb" providerId="ADAL" clId="{96A95975-A6BE-4984-B49E-3349A4584182}" dt="2026-02-24T07:31:46.878" v="48" actId="478"/>
          <ac:spMkLst>
            <pc:docMk/>
            <pc:sldMk cId="0" sldId="272"/>
            <ac:spMk id="13" creationId="{00000000-0000-0000-0000-000000000000}"/>
          </ac:spMkLst>
        </pc:spChg>
        <pc:spChg chg="del mod">
          <ac:chgData name="Abhinav Goyal (Consultant)" userId="75f79a6f-533a-478b-9577-3fa7c8d57ecb" providerId="ADAL" clId="{96A95975-A6BE-4984-B49E-3349A4584182}" dt="2026-02-24T07:31:50.049" v="50" actId="478"/>
          <ac:spMkLst>
            <pc:docMk/>
            <pc:sldMk cId="0" sldId="272"/>
            <ac:spMk id="14" creationId="{00000000-0000-0000-0000-000000000000}"/>
          </ac:spMkLst>
        </pc:spChg>
        <pc:spChg chg="mod">
          <ac:chgData name="Abhinav Goyal (Consultant)" userId="75f79a6f-533a-478b-9577-3fa7c8d57ecb" providerId="ADAL" clId="{96A95975-A6BE-4984-B49E-3349A4584182}" dt="2026-02-24T07:32:06.656" v="59" actId="20577"/>
          <ac:spMkLst>
            <pc:docMk/>
            <pc:sldMk cId="0" sldId="272"/>
            <ac:spMk id="17" creationId="{00000000-0000-0000-0000-000000000000}"/>
          </ac:spMkLst>
        </pc:spChg>
        <pc:spChg chg="mod">
          <ac:chgData name="Abhinav Goyal (Consultant)" userId="75f79a6f-533a-478b-9577-3fa7c8d57ecb" providerId="ADAL" clId="{96A95975-A6BE-4984-B49E-3349A4584182}" dt="2026-02-24T07:32:17.985" v="65" actId="20577"/>
          <ac:spMkLst>
            <pc:docMk/>
            <pc:sldMk cId="0" sldId="272"/>
            <ac:spMk id="22" creationId="{00000000-0000-0000-0000-000000000000}"/>
          </ac:spMkLst>
        </pc:spChg>
        <pc:spChg chg="mod">
          <ac:chgData name="Abhinav Goyal (Consultant)" userId="75f79a6f-533a-478b-9577-3fa7c8d57ecb" providerId="ADAL" clId="{96A95975-A6BE-4984-B49E-3349A4584182}" dt="2026-02-24T07:32:14.243" v="63" actId="20577"/>
          <ac:spMkLst>
            <pc:docMk/>
            <pc:sldMk cId="0" sldId="272"/>
            <ac:spMk id="27" creationId="{00000000-0000-0000-0000-000000000000}"/>
          </ac:spMkLst>
        </pc:spChg>
      </pc:sldChg>
      <pc:sldChg chg="modSp mod">
        <pc:chgData name="Abhinav Goyal (Consultant)" userId="75f79a6f-533a-478b-9577-3fa7c8d57ecb" providerId="ADAL" clId="{96A95975-A6BE-4984-B49E-3349A4584182}" dt="2026-02-24T07:37:33.171" v="89" actId="20577"/>
        <pc:sldMkLst>
          <pc:docMk/>
          <pc:sldMk cId="0" sldId="273"/>
        </pc:sldMkLst>
        <pc:spChg chg="mod">
          <ac:chgData name="Abhinav Goyal (Consultant)" userId="75f79a6f-533a-478b-9577-3fa7c8d57ecb" providerId="ADAL" clId="{96A95975-A6BE-4984-B49E-3349A4584182}" dt="2026-02-24T07:36:48.463" v="79" actId="20577"/>
          <ac:spMkLst>
            <pc:docMk/>
            <pc:sldMk cId="0" sldId="273"/>
            <ac:spMk id="11" creationId="{00000000-0000-0000-0000-000000000000}"/>
          </ac:spMkLst>
        </pc:spChg>
        <pc:spChg chg="mod">
          <ac:chgData name="Abhinav Goyal (Consultant)" userId="75f79a6f-533a-478b-9577-3fa7c8d57ecb" providerId="ADAL" clId="{96A95975-A6BE-4984-B49E-3349A4584182}" dt="2026-02-24T07:37:33.171" v="89" actId="20577"/>
          <ac:spMkLst>
            <pc:docMk/>
            <pc:sldMk cId="0" sldId="273"/>
            <ac:spMk id="1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963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27432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06640" y="45720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80960" y="228600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2C39A"/>
                </a:solidFill>
              </a:rPr>
              <a:t>LEAD (Learning, Evolving and Aligning for Digital Health, AI &amp; MedTech)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</a:rPr>
              <a:t>AI At Work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28090"/>
                </a:solidFill>
              </a:rPr>
              <a:t>From Tool to Infrastructure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22860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788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</a:rPr>
              <a:t>How AI is transforming daily work at XYX —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</a:rPr>
              <a:t>from answering questions to running workflows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462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Responsible Use  ·  Real Demos  ·  Practical Tools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AI IS ALREADY EVERYWHERE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21B2C"/>
                </a:solidFill>
              </a:rPr>
              <a:t>You Are Already Using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8138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You do not understand how GPS calculates your route. You trust it anyway. AI is the same.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41148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41148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1691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🏠  In Your Personal Life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1B2C"/>
                </a:solidFill>
              </a:rPr>
              <a:t>→  GPS that reroutes you in traffic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96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1B2C"/>
                </a:solidFill>
              </a:rPr>
              <a:t>→  Spotify suggesting your next song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8437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1B2C"/>
                </a:solidFill>
              </a:rPr>
              <a:t>→  Google autocompleting your search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1912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1B2C"/>
                </a:solidFill>
              </a:rPr>
              <a:t>→  Bank fraud alerts on your card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5387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1B2C"/>
                </a:solidFill>
              </a:rPr>
              <a:t>→  Email spam filtering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886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1B2C"/>
                </a:solidFill>
              </a:rPr>
              <a:t>→  Photo tagging in your gallery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645920"/>
            <a:ext cx="41148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1645920"/>
            <a:ext cx="41148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19472" y="1691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💼  In Your Work Life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148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1B2C"/>
                </a:solidFill>
              </a:rPr>
              <a:t>→  Email smart replies in Gmail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496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1B2C"/>
                </a:solidFill>
              </a:rPr>
              <a:t>→  Auto-transcription in Teams/Zoom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8437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1B2C"/>
                </a:solidFill>
              </a:rPr>
              <a:t>→  Grammar checking in Word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1912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1B2C"/>
                </a:solidFill>
              </a:rPr>
              <a:t>→  ChatGPT or Claude for drafting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5387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1B2C"/>
                </a:solidFill>
              </a:rPr>
              <a:t>→  Grammarly suggestions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886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1B2C"/>
                </a:solidFill>
              </a:rPr>
              <a:t>→  Search result rankings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45994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C"/>
                </a:solidFill>
              </a:rPr>
              <a:t>You are already using AI. Today is about using it intentionally — for the work that matters most.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AI Workshop —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2C39A"/>
                </a:solidFill>
              </a:rPr>
              <a:t>THE SHIFT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Two Ways to Use AI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138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1325880"/>
          </a:xfrm>
          <a:prstGeom prst="rect">
            <a:avLst/>
          </a:prstGeom>
          <a:solidFill>
            <a:srgbClr val="0D2D3F"/>
          </a:solidFill>
          <a:ln w="12700">
            <a:solidFill>
              <a:srgbClr val="0D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73152" cy="13258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64748B"/>
                </a:solidFill>
              </a:rPr>
              <a:t>LEVEL 1 — AI AS A TOOL  (Where everyone is now)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184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</a:rPr>
              <a:t>You  →  Open ChatGPT  →  Type question  →  Get answer  →  Copy it  →  Do something with it manually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</a:rPr>
              <a:t>You are always the trigger. You are always in the middle. You move every output.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724912"/>
            <a:ext cx="8412480" cy="1691640"/>
          </a:xfrm>
          <a:prstGeom prst="rect">
            <a:avLst/>
          </a:prstGeom>
          <a:solidFill>
            <a:srgbClr val="062A3A"/>
          </a:solidFill>
          <a:ln w="12700">
            <a:solidFill>
              <a:srgbClr val="06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724912"/>
            <a:ext cx="73152" cy="1691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7889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2C39A"/>
                </a:solidFill>
              </a:rPr>
              <a:t>LEVEL 2 — AI AS INFRASTRUCTURE  (What you will see today)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182112"/>
            <a:ext cx="138988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Event happens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48256" y="3255264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12848" y="3182112"/>
            <a:ext cx="138988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12848" y="32004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AI detects it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21024" y="3255264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85616" y="3182112"/>
            <a:ext cx="138988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785616" y="32004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AI decides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193792" y="3255264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58384" y="3182112"/>
            <a:ext cx="138988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58384" y="32004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AI acts across systems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66560" y="3255264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931152" y="3182112"/>
            <a:ext cx="138988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31152" y="32004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You receive the result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377647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2C39A"/>
                </a:solidFill>
              </a:rPr>
              <a:t>You were never in the middle of any of it.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Workshop — Confidential  ·  Today you move from Level 1 to Level 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WHAT AI CAN DO FOR YOUR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21B2C"/>
                </a:solidFill>
              </a:rPr>
              <a:t>Use Cases &amp; Available Solutions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8138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0233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📋  Desk Review &amp; Research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9768" y="16733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028090"/>
                </a:solidFill>
              </a:rPr>
              <a:t>Tools: Perplexity · Claude · Research Rabbit · Consensus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29768" y="19202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21B2C"/>
                </a:solidFill>
              </a:rPr>
              <a:t>→  Evidence synthesis from WHO, journals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" y="2148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21B2C"/>
                </a:solidFill>
              </a:rPr>
              <a:t>→  Literature gap analysis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23774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21B2C"/>
                </a:solidFill>
              </a:rPr>
              <a:t>→  Country context briefings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9768" y="26060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21B2C"/>
                </a:solidFill>
              </a:rPr>
              <a:t>→  Policy document summarisation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123444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17720" y="1234440"/>
            <a:ext cx="40233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27448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📝  Documentation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27448" y="16733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028090"/>
                </a:solidFill>
              </a:rPr>
              <a:t>Tools: Otter.ai · Claude · Notion AI · ChatGPT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27448" y="19202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21B2C"/>
                </a:solidFill>
              </a:rPr>
              <a:t>→  Meeting notes &amp; action items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27448" y="2148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21B2C"/>
                </a:solidFill>
              </a:rPr>
              <a:t>→  Report drafting &amp; structuring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27448" y="23774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21B2C"/>
                </a:solidFill>
              </a:rPr>
              <a:t>→  Policy brief writing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27448" y="26060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21B2C"/>
                </a:solidFill>
              </a:rPr>
              <a:t>→  SOPs and how-to guides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01752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017520"/>
            <a:ext cx="40233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9768" y="3081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📊  Presentations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9768" y="34564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028090"/>
                </a:solidFill>
              </a:rPr>
              <a:t>Tools: Gamma · Canva AI · Beautiful.ai · Claude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29768" y="37033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21B2C"/>
                </a:solidFill>
              </a:rPr>
              <a:t>→  Slide structure from bullet points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29768" y="39319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21B2C"/>
                </a:solidFill>
              </a:rPr>
              <a:t>→  Speaker notes generation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29768" y="41605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21B2C"/>
                </a:solidFill>
              </a:rPr>
              <a:t>→  Visual layout suggestions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29768" y="43891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21B2C"/>
                </a:solidFill>
              </a:rPr>
              <a:t>→  Executive summary slides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17720" y="301752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17720" y="3017520"/>
            <a:ext cx="40233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27448" y="3081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🔢  Data Analysis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27448" y="34564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028090"/>
                </a:solidFill>
              </a:rPr>
              <a:t>Tools: Claude · Julius AI · ChatGPT Code Interpreter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27448" y="37033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21B2C"/>
                </a:solidFill>
              </a:rPr>
              <a:t>→  M&amp;E data pattern identification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27448" y="39319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21B2C"/>
                </a:solidFill>
              </a:rPr>
              <a:t>→  Trend analysis across time periods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27448" y="41605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21B2C"/>
                </a:solidFill>
              </a:rPr>
              <a:t>→  Anomaly and outlier flagging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27448" y="43891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21B2C"/>
                </a:solidFill>
              </a:rPr>
              <a:t>→  Donor report data summaries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AI Workshop  ·  Today's live demos draw from Desk Review and Documentation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THE AI TOOLKIT — PATH RELEVANT TOOLS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21B2C"/>
                </a:solidFill>
              </a:rPr>
              <a:t>What's Available and What It Costs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0" y="201168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0" y="201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7F5A"/>
                </a:solidFill>
              </a:rPr>
              <a:t>FREE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607808" y="201168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07808" y="201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45309"/>
                </a:solidFill>
              </a:rPr>
              <a:t>FREEMIUM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8357616" y="201168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57616" y="201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3A5F"/>
                </a:solidFill>
              </a:rPr>
              <a:t>PAID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02920" y="941832"/>
            <a:ext cx="8138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024128"/>
            <a:ext cx="2075688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024128"/>
            <a:ext cx="2075688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1042416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🔬  DEEP RESEARCH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14630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Perplexity AI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83080" y="149504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783080" y="149504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65760" y="17373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NotebookLM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83080" y="176936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783080" y="176936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A7F5A"/>
                </a:solidFill>
              </a:rPr>
              <a:t>FREE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65760" y="201168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Consensus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783080" y="204368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783080" y="204368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365760" y="22860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ResearchRabbit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783080" y="231800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783080" y="231800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A7F5A"/>
                </a:solidFill>
              </a:rPr>
              <a:t>FREE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365760" y="25603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Semantic Scholar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783080" y="259232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783080" y="259232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A7F5A"/>
                </a:solidFill>
              </a:rPr>
              <a:t>FREE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2432304" y="1024128"/>
            <a:ext cx="2075688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432304" y="1024128"/>
            <a:ext cx="2075688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523744" y="1042416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📝  DOCUMENTATION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523744" y="14630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Otter.ai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941064" y="149504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941064" y="149504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523744" y="17373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Fireflies.ai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941064" y="176936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941064" y="176936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23744" y="201168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Notta AI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941064" y="204368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941064" y="204368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2523744" y="22860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Notion AI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941064" y="231800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941064" y="231800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E3A5F"/>
                </a:solidFill>
              </a:rPr>
              <a:t>PAID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2523744" y="25603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Fellow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41064" y="259232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941064" y="259232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E3A5F"/>
                </a:solidFill>
              </a:rPr>
              <a:t>PAID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4590288" y="1024128"/>
            <a:ext cx="2075688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590288" y="1024128"/>
            <a:ext cx="2075688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681728" y="1042416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📊  PRESENTATIONS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681728" y="14630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Gamma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099048" y="149504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099048" y="149504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4681728" y="17373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Canva AI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099048" y="176936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099048" y="176936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4681728" y="201168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Napkin AI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099048" y="204368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099048" y="204368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4681728" y="22860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Beautiful.ai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099048" y="231800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099048" y="231800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E3A5F"/>
                </a:solidFill>
              </a:rPr>
              <a:t>PAID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4681728" y="25603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Plus AI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099048" y="259232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099048" y="259232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E3A5F"/>
                </a:solidFill>
              </a:rPr>
              <a:t>PAID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6748272" y="1024128"/>
            <a:ext cx="2075688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748272" y="1024128"/>
            <a:ext cx="2075688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839712" y="1042416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✍️  WRITING QUALITY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839712" y="14630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Grammarly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257032" y="149504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8257032" y="149504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6839712" y="17373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Hemingway Editor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8257032" y="176936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8257032" y="176936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6839712" y="201168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QuillBot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8257032" y="204368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8257032" y="204368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6839712" y="22860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ProWritingAid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8257032" y="231800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8257032" y="231800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6839712" y="25603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Writer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8257032" y="259232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8257032" y="259232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E3A5F"/>
                </a:solidFill>
              </a:rPr>
              <a:t>PAID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274320" y="2898648"/>
            <a:ext cx="2075688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274320" y="2898648"/>
            <a:ext cx="2075688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365760" y="2916936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⚙️  WORKFLOW AUTOMATION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365760" y="33375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n8n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783080" y="336956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1783080" y="336956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A7F5A"/>
                </a:solidFill>
              </a:rPr>
              <a:t>FREE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365760" y="361188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Make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1783080" y="364388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1783080" y="364388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92" name="Text 90"/>
          <p:cNvSpPr/>
          <p:nvPr/>
        </p:nvSpPr>
        <p:spPr>
          <a:xfrm>
            <a:off x="365760" y="38862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Zapier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1783080" y="391820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1783080" y="391820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95" name="Text 93"/>
          <p:cNvSpPr/>
          <p:nvPr/>
        </p:nvSpPr>
        <p:spPr>
          <a:xfrm>
            <a:off x="365760" y="41605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Gumloop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1783080" y="419252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1783080" y="419252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98" name="Text 96"/>
          <p:cNvSpPr/>
          <p:nvPr/>
        </p:nvSpPr>
        <p:spPr>
          <a:xfrm>
            <a:off x="365760" y="44348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IFTTT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1783080" y="446684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1783080" y="446684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2432304" y="2898648"/>
            <a:ext cx="2075688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2432304" y="2898648"/>
            <a:ext cx="2075688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2523744" y="2916936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🔢  DATA &amp; SPREADSHEETS</a:t>
            </a:r>
            <a:endParaRPr lang="en-US" sz="950" dirty="0"/>
          </a:p>
        </p:txBody>
      </p:sp>
      <p:sp>
        <p:nvSpPr>
          <p:cNvPr id="104" name="Text 102"/>
          <p:cNvSpPr/>
          <p:nvPr/>
        </p:nvSpPr>
        <p:spPr>
          <a:xfrm>
            <a:off x="2523744" y="33375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Formula Bot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3941064" y="336956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3941064" y="336956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A7F5A"/>
                </a:solidFill>
              </a:rPr>
              <a:t>FREE</a:t>
            </a:r>
            <a:endParaRPr lang="en-US" sz="650" dirty="0"/>
          </a:p>
        </p:txBody>
      </p:sp>
      <p:sp>
        <p:nvSpPr>
          <p:cNvPr id="107" name="Text 105"/>
          <p:cNvSpPr/>
          <p:nvPr/>
        </p:nvSpPr>
        <p:spPr>
          <a:xfrm>
            <a:off x="2523744" y="361188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/>
              <a:t>Julius.ai</a:t>
            </a:r>
          </a:p>
        </p:txBody>
      </p:sp>
      <p:sp>
        <p:nvSpPr>
          <p:cNvPr id="108" name="Shape 106"/>
          <p:cNvSpPr/>
          <p:nvPr/>
        </p:nvSpPr>
        <p:spPr>
          <a:xfrm>
            <a:off x="3941064" y="364388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3941064" y="364388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110" name="Text 108"/>
          <p:cNvSpPr/>
          <p:nvPr/>
        </p:nvSpPr>
        <p:spPr>
          <a:xfrm>
            <a:off x="2523744" y="38862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Sheet+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3941064" y="391820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3941064" y="391820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E3A5F"/>
                </a:solidFill>
              </a:rPr>
              <a:t>PAID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2523744" y="41605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ExcelMaster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3941064" y="419252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3941064" y="419252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E3A5F"/>
                </a:solidFill>
              </a:rPr>
              <a:t>PAID</a:t>
            </a:r>
            <a:endParaRPr lang="en-US" sz="650" dirty="0"/>
          </a:p>
        </p:txBody>
      </p:sp>
      <p:sp>
        <p:nvSpPr>
          <p:cNvPr id="116" name="Text 114"/>
          <p:cNvSpPr/>
          <p:nvPr/>
        </p:nvSpPr>
        <p:spPr>
          <a:xfrm>
            <a:off x="2523744" y="44348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Workik AI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3941064" y="446684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3941064" y="446684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119" name="Shape 117"/>
          <p:cNvSpPr/>
          <p:nvPr/>
        </p:nvSpPr>
        <p:spPr>
          <a:xfrm>
            <a:off x="4590288" y="2898648"/>
            <a:ext cx="2075688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4590288" y="2898648"/>
            <a:ext cx="2075688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4681728" y="2916936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🎥  VIDEO &amp; AVATAR</a:t>
            </a:r>
            <a:endParaRPr lang="en-US" sz="950" dirty="0"/>
          </a:p>
        </p:txBody>
      </p:sp>
      <p:sp>
        <p:nvSpPr>
          <p:cNvPr id="122" name="Text 120"/>
          <p:cNvSpPr/>
          <p:nvPr/>
        </p:nvSpPr>
        <p:spPr>
          <a:xfrm>
            <a:off x="4681728" y="33375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ElevenLabs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6099048" y="336956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6099048" y="336956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125" name="Text 123"/>
          <p:cNvSpPr/>
          <p:nvPr/>
        </p:nvSpPr>
        <p:spPr>
          <a:xfrm>
            <a:off x="4681728" y="361188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Descript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6099048" y="364388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25"/>
          <p:cNvSpPr/>
          <p:nvPr/>
        </p:nvSpPr>
        <p:spPr>
          <a:xfrm>
            <a:off x="6099048" y="364388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4681728" y="38862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HeyGen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6099048" y="391820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6099048" y="391820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E3A5F"/>
                </a:solidFill>
              </a:rPr>
              <a:t>PAID</a:t>
            </a:r>
            <a:endParaRPr lang="en-US" sz="650" dirty="0"/>
          </a:p>
        </p:txBody>
      </p:sp>
      <p:sp>
        <p:nvSpPr>
          <p:cNvPr id="131" name="Text 129"/>
          <p:cNvSpPr/>
          <p:nvPr/>
        </p:nvSpPr>
        <p:spPr>
          <a:xfrm>
            <a:off x="4681728" y="41605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Murf AI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6099048" y="419252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31"/>
          <p:cNvSpPr/>
          <p:nvPr/>
        </p:nvSpPr>
        <p:spPr>
          <a:xfrm>
            <a:off x="6099048" y="419252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E3A5F"/>
                </a:solidFill>
              </a:rPr>
              <a:t>PAID</a:t>
            </a:r>
            <a:endParaRPr lang="en-US" sz="650" dirty="0"/>
          </a:p>
        </p:txBody>
      </p:sp>
      <p:sp>
        <p:nvSpPr>
          <p:cNvPr id="134" name="Text 132"/>
          <p:cNvSpPr/>
          <p:nvPr/>
        </p:nvSpPr>
        <p:spPr>
          <a:xfrm>
            <a:off x="4681728" y="44348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Riverside.fm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6099048" y="446684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4"/>
          <p:cNvSpPr/>
          <p:nvPr/>
        </p:nvSpPr>
        <p:spPr>
          <a:xfrm>
            <a:off x="6099048" y="446684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E3A5F"/>
                </a:solidFill>
              </a:rPr>
              <a:t>PAID</a:t>
            </a:r>
            <a:endParaRPr lang="en-US" sz="650" dirty="0"/>
          </a:p>
        </p:txBody>
      </p:sp>
      <p:sp>
        <p:nvSpPr>
          <p:cNvPr id="137" name="Shape 135"/>
          <p:cNvSpPr/>
          <p:nvPr/>
        </p:nvSpPr>
        <p:spPr>
          <a:xfrm>
            <a:off x="6748272" y="2898648"/>
            <a:ext cx="2075688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6748272" y="2898648"/>
            <a:ext cx="2075688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137"/>
          <p:cNvSpPr/>
          <p:nvPr/>
        </p:nvSpPr>
        <p:spPr>
          <a:xfrm>
            <a:off x="6839712" y="2916936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🧠  KNOWLEDGE &amp; CREATIVE</a:t>
            </a:r>
            <a:endParaRPr lang="en-US" sz="950" dirty="0"/>
          </a:p>
        </p:txBody>
      </p:sp>
      <p:sp>
        <p:nvSpPr>
          <p:cNvPr id="140" name="Text 138"/>
          <p:cNvSpPr/>
          <p:nvPr/>
        </p:nvSpPr>
        <p:spPr>
          <a:xfrm>
            <a:off x="6839712" y="33375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Obsidian + AI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8257032" y="336956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40"/>
          <p:cNvSpPr/>
          <p:nvPr/>
        </p:nvSpPr>
        <p:spPr>
          <a:xfrm>
            <a:off x="8257032" y="336956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143" name="Text 141"/>
          <p:cNvSpPr/>
          <p:nvPr/>
        </p:nvSpPr>
        <p:spPr>
          <a:xfrm>
            <a:off x="6839712" y="361188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NotebookLM</a:t>
            </a:r>
            <a:endParaRPr lang="en-US" sz="900" dirty="0"/>
          </a:p>
        </p:txBody>
      </p:sp>
      <p:sp>
        <p:nvSpPr>
          <p:cNvPr id="144" name="Shape 142"/>
          <p:cNvSpPr/>
          <p:nvPr/>
        </p:nvSpPr>
        <p:spPr>
          <a:xfrm>
            <a:off x="8257032" y="364388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43"/>
          <p:cNvSpPr/>
          <p:nvPr/>
        </p:nvSpPr>
        <p:spPr>
          <a:xfrm>
            <a:off x="8257032" y="364388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A7F5A"/>
                </a:solidFill>
              </a:rPr>
              <a:t>FREE</a:t>
            </a:r>
            <a:endParaRPr lang="en-US" sz="650" dirty="0"/>
          </a:p>
        </p:txBody>
      </p:sp>
      <p:sp>
        <p:nvSpPr>
          <p:cNvPr id="146" name="Text 144"/>
          <p:cNvSpPr/>
          <p:nvPr/>
        </p:nvSpPr>
        <p:spPr>
          <a:xfrm>
            <a:off x="6839712" y="38862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Suno AI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8257032" y="391820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146"/>
          <p:cNvSpPr/>
          <p:nvPr/>
        </p:nvSpPr>
        <p:spPr>
          <a:xfrm>
            <a:off x="8257032" y="391820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149" name="Text 147"/>
          <p:cNvSpPr/>
          <p:nvPr/>
        </p:nvSpPr>
        <p:spPr>
          <a:xfrm>
            <a:off x="6839712" y="41605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Midjourney</a:t>
            </a:r>
            <a:endParaRPr lang="en-US" sz="900" dirty="0"/>
          </a:p>
        </p:txBody>
      </p:sp>
      <p:sp>
        <p:nvSpPr>
          <p:cNvPr id="150" name="Shape 148"/>
          <p:cNvSpPr/>
          <p:nvPr/>
        </p:nvSpPr>
        <p:spPr>
          <a:xfrm>
            <a:off x="8257032" y="419252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 149"/>
          <p:cNvSpPr/>
          <p:nvPr/>
        </p:nvSpPr>
        <p:spPr>
          <a:xfrm>
            <a:off x="8257032" y="419252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E3A5F"/>
                </a:solidFill>
              </a:rPr>
              <a:t>PAID</a:t>
            </a:r>
            <a:endParaRPr lang="en-US" sz="650" dirty="0"/>
          </a:p>
        </p:txBody>
      </p:sp>
      <p:sp>
        <p:nvSpPr>
          <p:cNvPr id="152" name="Text 150"/>
          <p:cNvSpPr/>
          <p:nvPr/>
        </p:nvSpPr>
        <p:spPr>
          <a:xfrm>
            <a:off x="6839712" y="44348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21B2C"/>
                </a:solidFill>
              </a:rPr>
              <a:t>Glean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8257032" y="4466844"/>
            <a:ext cx="475488" cy="173736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 152"/>
          <p:cNvSpPr/>
          <p:nvPr/>
        </p:nvSpPr>
        <p:spPr>
          <a:xfrm>
            <a:off x="8257032" y="446684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E3A5F"/>
                </a:solidFill>
              </a:rPr>
              <a:t>PAID</a:t>
            </a:r>
            <a:endParaRPr lang="en-US" sz="650" dirty="0"/>
          </a:p>
        </p:txBody>
      </p:sp>
      <p:sp>
        <p:nvSpPr>
          <p:cNvPr id="155" name="Shape 15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154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AI Workshop  ·  FREE = no cost  ·  FREE+ = free tier + paid upgrade  ·  PAID = subscription required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TOOLS YOU CAN START USING TOMORROW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21B2C"/>
                </a:solidFill>
              </a:rPr>
              <a:t>For Work — Top Recommended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8138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24912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24912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25877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For Program Managers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048" y="1508760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1B2C"/>
                </a:solidFill>
              </a:rPr>
              <a:t>Perplexity AI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23160" y="1536192"/>
            <a:ext cx="475488" cy="18288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23160" y="153619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384048" y="176479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Evidence search + cited answers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1965960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028090"/>
                </a:solidFill>
              </a:rPr>
              <a:t>perplexity.ai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5760" y="2093976"/>
            <a:ext cx="254203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2167128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1B2C"/>
                </a:solidFill>
              </a:rPr>
              <a:t>NotebookLM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23160" y="2194560"/>
            <a:ext cx="475488" cy="18288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23160" y="219456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A7F5A"/>
                </a:solidFill>
              </a:rPr>
              <a:t>FREE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84048" y="242316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Upload reports, get audio briefs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84048" y="2624328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028090"/>
                </a:solidFill>
              </a:rPr>
              <a:t>notebooklm.google.com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65760" y="2752344"/>
            <a:ext cx="254203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2825496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1B2C"/>
                </a:solidFill>
              </a:rPr>
              <a:t>Otter.ai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423160" y="2852928"/>
            <a:ext cx="475488" cy="18288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423160" y="285292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384048" y="308152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Auto-transcribe every meeting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" y="3282696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028090"/>
                </a:solidFill>
              </a:rPr>
              <a:t>otter.ai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65760" y="3410712"/>
            <a:ext cx="254203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4048" y="3483864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1B2C"/>
                </a:solidFill>
              </a:rPr>
              <a:t>Gamma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423160" y="3511296"/>
            <a:ext cx="475488" cy="18288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423160" y="351129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384048" y="373989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Build slide decks from text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84048" y="3941064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028090"/>
                </a:solidFill>
              </a:rPr>
              <a:t>gamma.app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65760" y="4069080"/>
            <a:ext cx="254203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84048" y="414223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1B2C"/>
                </a:solidFill>
              </a:rPr>
              <a:t>n8n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423160" y="4169664"/>
            <a:ext cx="475488" cy="18288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423160" y="416966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A7F5A"/>
                </a:solidFill>
              </a:rPr>
              <a:t>FREE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384048" y="439826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Automate email + meeting workflows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84048" y="4599432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028090"/>
                </a:solidFill>
              </a:rPr>
              <a:t>n8n.io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118104" y="1005840"/>
            <a:ext cx="2724912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118104" y="1005840"/>
            <a:ext cx="2724912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209544" y="1024128"/>
            <a:ext cx="25877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For M&amp;E / Data Teams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227832" y="1508760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1B2C"/>
                </a:solidFill>
              </a:rPr>
              <a:t>Formula Bot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266944" y="1536192"/>
            <a:ext cx="475488" cy="18288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266944" y="153619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A7F5A"/>
                </a:solidFill>
              </a:rPr>
              <a:t>FREE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3227832" y="176479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Excel/Sheets formula generator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227832" y="1965960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028090"/>
                </a:solidFill>
              </a:rPr>
              <a:t>formulabot.com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209544" y="2093976"/>
            <a:ext cx="254203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227832" y="2167128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1B2C"/>
                </a:solidFill>
              </a:rPr>
              <a:t>GPT Excel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266944" y="2194560"/>
            <a:ext cx="475488" cy="18288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266944" y="219456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3227832" y="242316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Natural language to formulas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227832" y="2624328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028090"/>
                </a:solidFill>
              </a:rPr>
              <a:t>gptexcel.uk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209544" y="2752344"/>
            <a:ext cx="254203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227832" y="2825496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1B2C"/>
                </a:solidFill>
              </a:rPr>
              <a:t>Consensus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266944" y="2852928"/>
            <a:ext cx="475488" cy="18288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266944" y="285292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3227832" y="308152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Evidence from research papers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227832" y="3282696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028090"/>
                </a:solidFill>
              </a:rPr>
              <a:t>consensus.app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209544" y="3410712"/>
            <a:ext cx="254203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227832" y="3483864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1B2C"/>
                </a:solidFill>
              </a:rPr>
              <a:t>ResearchRabbit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266944" y="3511296"/>
            <a:ext cx="475488" cy="18288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266944" y="351129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A7F5A"/>
                </a:solidFill>
              </a:rPr>
              <a:t>FREE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3227832" y="373989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Visual citation networks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3227832" y="3941064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028090"/>
                </a:solidFill>
              </a:rPr>
              <a:t>researchrabbit.ai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209544" y="4069080"/>
            <a:ext cx="254203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227832" y="414223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1B2C"/>
                </a:solidFill>
              </a:rPr>
              <a:t>Napkin AI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5266944" y="4169664"/>
            <a:ext cx="475488" cy="18288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266944" y="416966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3227832" y="439826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Text-to-visuals for reports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3227832" y="4599432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028090"/>
                </a:solidFill>
              </a:rPr>
              <a:t>napkin.ai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5961888" y="1005840"/>
            <a:ext cx="2724912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5961888" y="1005840"/>
            <a:ext cx="2724912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053328" y="1024128"/>
            <a:ext cx="25877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For Comms / Advocacy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6071616" y="1508760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1B2C"/>
                </a:solidFill>
              </a:rPr>
              <a:t>Grammarly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8110728" y="1536192"/>
            <a:ext cx="475488" cy="18288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110728" y="153619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6071616" y="176479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Writing quality + tone check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071616" y="1965960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028090"/>
                </a:solidFill>
              </a:rPr>
              <a:t>grammarly.com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053328" y="2093976"/>
            <a:ext cx="254203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6071616" y="2167128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1B2C"/>
                </a:solidFill>
              </a:rPr>
              <a:t>Canva AI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8110728" y="2194560"/>
            <a:ext cx="475488" cy="18288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8110728" y="219456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6071616" y="242316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Design graphics and reports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6071616" y="2624328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028090"/>
                </a:solidFill>
              </a:rPr>
              <a:t>canva.com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6053328" y="2752344"/>
            <a:ext cx="254203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6071616" y="2825496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1B2C"/>
                </a:solidFill>
              </a:rPr>
              <a:t>Fireflies.ai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8110728" y="2852928"/>
            <a:ext cx="475488" cy="18288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8110728" y="285292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6071616" y="308152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Meeting notes + action items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6071616" y="3282696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028090"/>
                </a:solidFill>
              </a:rPr>
              <a:t>fireflies.ai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6053328" y="3410712"/>
            <a:ext cx="254203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6071616" y="3483864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1B2C"/>
                </a:solidFill>
              </a:rPr>
              <a:t>ElevenLabs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8110728" y="3511296"/>
            <a:ext cx="475488" cy="18288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8110728" y="351129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6071616" y="373989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Voice for videos + training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6071616" y="3941064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028090"/>
                </a:solidFill>
              </a:rPr>
              <a:t>elevenlabs.io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6053328" y="4069080"/>
            <a:ext cx="254203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6071616" y="414223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1B2C"/>
                </a:solidFill>
              </a:rPr>
              <a:t>QuillBot</a:t>
            </a:r>
            <a:endParaRPr lang="en-US" sz="1050" dirty="0"/>
          </a:p>
        </p:txBody>
      </p:sp>
      <p:sp>
        <p:nvSpPr>
          <p:cNvPr id="97" name="Shape 95"/>
          <p:cNvSpPr/>
          <p:nvPr/>
        </p:nvSpPr>
        <p:spPr>
          <a:xfrm>
            <a:off x="8110728" y="4169664"/>
            <a:ext cx="475488" cy="18288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8110728" y="416966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</a:rPr>
              <a:t>FREE+</a:t>
            </a:r>
            <a:endParaRPr lang="en-US" sz="650" dirty="0"/>
          </a:p>
        </p:txBody>
      </p:sp>
      <p:sp>
        <p:nvSpPr>
          <p:cNvPr id="99" name="Text 97"/>
          <p:cNvSpPr/>
          <p:nvPr/>
        </p:nvSpPr>
        <p:spPr>
          <a:xfrm>
            <a:off x="6071616" y="439826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Paraphrase + summarise content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6071616" y="4599432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028090"/>
                </a:solidFill>
              </a:rPr>
              <a:t>quillbot.com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AI Workshop  ·  All FREE and FREE+ tools can be started today at no cost  ·  Responsible use guidelines apply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THE PROBLEM DIDN'T START WITH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21B2C"/>
                </a:solidFill>
              </a:rPr>
              <a:t>Why This Matters </a:t>
            </a:r>
            <a:r>
              <a:rPr lang="en-US" sz="2800" b="1">
                <a:solidFill>
                  <a:srgbClr val="021B2C"/>
                </a:solidFill>
              </a:rPr>
              <a:t>for our </a:t>
            </a:r>
            <a:r>
              <a:rPr lang="en-US" sz="2800" b="1" dirty="0">
                <a:solidFill>
                  <a:srgbClr val="021B2C"/>
                </a:solidFill>
              </a:rPr>
              <a:t>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8138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060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6060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8090"/>
                </a:solidFill>
              </a:rPr>
              <a:t>40+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1B2C"/>
                </a:solidFill>
              </a:rPr>
              <a:t>Emails a day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523744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The average knowledge worker. Most need a decision.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060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26060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417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8090"/>
                </a:solidFill>
              </a:rPr>
              <a:t>71%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337560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1B2C"/>
                </a:solidFill>
              </a:rPr>
              <a:t>Meeting time lost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523744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Produce no documented output or follow-through.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26060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1234440"/>
            <a:ext cx="26060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72200" y="1417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8090"/>
                </a:solidFill>
              </a:rPr>
              <a:t>3 hrs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172200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1B2C"/>
                </a:solidFill>
              </a:rPr>
              <a:t>Spent on low-value tasks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2523744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Every single day. Searching, formatting, summarising.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8412480" cy="640080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8404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AI does not create new capacity. It returns capacity you are already losing.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AI Workshop —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2C39A"/>
                </a:solidFill>
              </a:rPr>
              <a:t>LIVE DEMO 1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The Monday Morning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Problem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</a:rPr>
              <a:t>40 emails. Before you open your laptop.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</a:rPr>
              <a:t>Donors. Field updates. Requests. Noise.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971800"/>
            <a:ext cx="8138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</a:rPr>
              <a:t>You spend 2 hours every Monday deciding</a:t>
            </a:r>
            <a:endParaRPr lang="en-US" sz="1400" dirty="0"/>
          </a:p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</a:rPr>
              <a:t>what to respond to and what to write.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1097280"/>
            <a:ext cx="2240280" cy="2011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0" y="12344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</a:rPr>
              <a:t>22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583680" y="2240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21B2C"/>
                </a:solidFill>
              </a:rPr>
              <a:t>SECONDS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25603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AI handles it all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886200"/>
            <a:ext cx="841248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9502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</a:rPr>
              <a:t>→  Watch the screen. An email is arriving now. I am not touching anything.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AI Workshop —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EMAIL PIPELINE — RUNNING LIVE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21B2C"/>
                </a:solidFill>
              </a:rPr>
              <a:t>Automated AI: Fixed Path, Zero Human Input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8138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50876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EMAIL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ARRIVES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9476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</a:rPr>
              <a:t>Gmail trigger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01368" y="16002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993392" y="1280160"/>
            <a:ext cx="150876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93392" y="1371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CLASSIFIES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93392" y="19476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</a:rPr>
              <a:t>Urgent / Info / Needs Input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20440" y="16002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</a:rPr>
              <a:t>›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712464" y="1280160"/>
            <a:ext cx="150876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12464" y="1371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DRAFTS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12464" y="19476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</a:rPr>
              <a:t>Reply in your voice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239512" y="16002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31536" y="1280160"/>
            <a:ext cx="150876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31536" y="1371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LOGS 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SHEET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31536" y="19476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</a:rPr>
              <a:t>Permanent record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958584" y="16002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</a:rPr>
              <a:t>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150608" y="1280160"/>
            <a:ext cx="150876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50608" y="1371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NOTIFIES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TEAM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50608" y="19476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</a:rPr>
              <a:t>Slack alert sent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26974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64748B"/>
                </a:solidFill>
              </a:rPr>
              <a:t>WHAT GETS CREATED — ALL AUTOMATICALLY: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063240"/>
            <a:ext cx="26060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063240"/>
            <a:ext cx="64008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6928" y="31272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1B2C"/>
                </a:solidFill>
              </a:rPr>
              <a:t>Gmail Draft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34107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Reply ready for 1-click send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3063240"/>
            <a:ext cx="26060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00400" y="3063240"/>
            <a:ext cx="64008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01568" y="31272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1B2C"/>
                </a:solidFill>
              </a:rPr>
              <a:t>Google Sheet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01568" y="34107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Email logged with classification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35040" y="3063240"/>
            <a:ext cx="26060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035040" y="3063240"/>
            <a:ext cx="64008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36208" y="31272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1B2C"/>
                </a:solidFill>
              </a:rPr>
              <a:t>Slack Alert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36208" y="34107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Relevant person notified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133088"/>
            <a:ext cx="8412480" cy="548640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8640" y="419709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This workflow runs 24 hours a day. It processed emails while you slept last night.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PATH AI Workshop —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2C39A"/>
                </a:solidFill>
              </a:rPr>
              <a:t>LIVE DEMO 2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The Meeting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Black Hole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2E8F0"/>
                </a:solidFill>
              </a:rPr>
              <a:t>Everyone agrees in the meeting.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E2E8F0"/>
                </a:solidFill>
              </a:rPr>
              <a:t>Three days later nobody remembers who agreed to what.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971800"/>
            <a:ext cx="813816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❌  No notes sent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37560" y="3108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❌  Unclear who owns what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0" y="3108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❌  Follow-up never written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886200"/>
            <a:ext cx="841248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9502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</a:rPr>
              <a:t>→  One transcript in. Four outputs out. Unclear ownership flagged automatically.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AI Workshop —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MEETING PIPELINE — RUNNING LIVE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21B2C"/>
                </a:solidFill>
              </a:rPr>
              <a:t>Automated AI: One Input, Four Outputs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8138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011680" cy="2560320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28090"/>
                </a:solidFill>
              </a:rPr>
              <a:t>INPUT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Meeting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Transcript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24231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Messy. Crosstalk.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Unclear owners.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Missed deadlines.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3246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1 paste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23160" y="23317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2880360" y="1280160"/>
            <a:ext cx="1554480" cy="2560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80360" y="1737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CLAUDE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ANALYSES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80360" y="23774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Reads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Decides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Structures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Drafts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98848" y="23317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983480" y="1280160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83480" y="1280160"/>
            <a:ext cx="64008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66360" y="13898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21B2C"/>
                </a:solidFill>
              </a:rPr>
              <a:t>Action Items + Owners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83480" y="1938528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983480" y="1938528"/>
            <a:ext cx="64008" cy="56692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66360" y="204825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53E3E"/>
                </a:solidFill>
              </a:rPr>
              <a:t>Unclear ownership flagged ⚠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83480" y="2596896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983480" y="2596896"/>
            <a:ext cx="64008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66360" y="270662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21B2C"/>
                </a:solidFill>
              </a:rPr>
              <a:t>Follow-up email drafted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983480" y="3255264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983480" y="3255264"/>
            <a:ext cx="64008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66360" y="33649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21B2C"/>
                </a:solidFill>
              </a:rPr>
              <a:t>Slack alert sent to team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0040" y="4041648"/>
            <a:ext cx="8503920" cy="640080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4087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</a:rPr>
              <a:t>The unclear ownership flag was not asked for. AI noticed it and flagged it anyway.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</a:rPr>
              <a:t>That is the difference between a tool and a system.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AI Workshop —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2C39A"/>
                </a:solidFill>
              </a:rPr>
              <a:t>LIVE DEMO 3 OF 3  —  AGENTIC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The Information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Overload Problem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</a:rPr>
              <a:t>WHO guidelines. Donor briefs. Field studies. Research papers.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</a:rPr>
              <a:t>One person. Impossible to read everything. Cannot miss what matters.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926080"/>
            <a:ext cx="813816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3063240"/>
            <a:ext cx="841248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1363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</a:rPr>
              <a:t>This demo is different. The previous two followed a fixed path.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</a:rPr>
              <a:t>This one decides its own path.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8412480" cy="594360"/>
          </a:xfrm>
          <a:prstGeom prst="rect">
            <a:avLst/>
          </a:prstGeom>
          <a:solidFill>
            <a:srgbClr val="0D4F3A"/>
          </a:solidFill>
          <a:ln w="12700">
            <a:solidFill>
              <a:srgbClr val="0D4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9502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</a:rPr>
              <a:t>→  Watch it plan its own research, evaluate quality, decide if it needs more — then write the brief.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AI Workshop —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2C39A"/>
                </a:solidFill>
              </a:rPr>
              <a:t>AGENTIC AI — THIS ONE THINKS FOR ITSELF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21B2C"/>
                </a:solidFill>
              </a:rPr>
              <a:t>Evidence Intelligence Engine — Live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8138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22860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228600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3898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5A82"/>
                </a:solidFill>
              </a:rPr>
              <a:t>PLAN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" y="1737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Breaks question into sub-questions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624328" y="1572768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834640" y="1261872"/>
            <a:ext cx="22860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34640" y="1261872"/>
            <a:ext cx="2286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44368" y="13898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8090"/>
                </a:solidFill>
              </a:rPr>
              <a:t>SEARCH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44368" y="1737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Perplexity → WHO, journals, USAID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138928" y="1572768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349240" y="1261872"/>
            <a:ext cx="22860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49240" y="1261872"/>
            <a:ext cx="228600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58968" y="13898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5A82"/>
                </a:solidFill>
              </a:rPr>
              <a:t>EVALUATE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58968" y="1737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Scores quality. Are results good enough?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514600"/>
            <a:ext cx="7543800" cy="502920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2578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IF results are not good enough → AI decides which strategy to use: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090672"/>
            <a:ext cx="178308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3154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BROADEN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0040" y="343814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</a:rPr>
              <a:t>Too narrow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40280" y="3090672"/>
            <a:ext cx="178308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40280" y="3154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CONSTRAIN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240280" y="343814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</a:rPr>
              <a:t>Too broad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60520" y="3090672"/>
            <a:ext cx="178308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60520" y="3154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ARBITRATE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60520" y="343814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</a:rPr>
              <a:t>Conflicting sources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80760" y="3090672"/>
            <a:ext cx="178308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80760" y="3154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NARROW TO RECENT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080760" y="343814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</a:rPr>
              <a:t>Evidence outdated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0040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8090"/>
                </a:solidFill>
              </a:rPr>
              <a:t>↓  Then: SYNTHESIZE — calibrated to selected audience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178808"/>
            <a:ext cx="233172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11480" y="42245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→  Google Doc Brief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880360" y="4178808"/>
            <a:ext cx="233172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971800" y="42245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→  Research Log Sheet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40680" y="4178808"/>
            <a:ext cx="233172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532120" y="42245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→  Slack Summary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955280" y="1261872"/>
            <a:ext cx="914400" cy="2487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955280" y="1828800"/>
            <a:ext cx="914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1B2C"/>
                </a:solidFill>
              </a:rPr>
              <a:t>THIS IS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21B2C"/>
                </a:solidFill>
              </a:rPr>
              <a:t>AGENTIC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21B2C"/>
                </a:solidFill>
              </a:rPr>
              <a:t>AI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AI Workshop —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53E3E"/>
                </a:solidFill>
              </a:rPr>
              <a:t>RESPONSIBLE USE — READ THIS CAREFULLY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21B2C"/>
                </a:solidFill>
              </a:rPr>
              <a:t>Using AI Responsibly at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8138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3977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397764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64008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1208" y="13990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28090"/>
                </a:solidFill>
              </a:rPr>
              <a:t>ACCURACY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" y="16916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21B2C"/>
                </a:solidFill>
              </a:rPr>
              <a:t>Always verify AI output before using it. AI can be wrong, confidently. Your name is on the work — not the AI's.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1261872"/>
            <a:ext cx="3977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261872"/>
            <a:ext cx="3977640" cy="640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1261872"/>
            <a:ext cx="64008" cy="13716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73168" y="13990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E53E3E"/>
                </a:solidFill>
              </a:rPr>
              <a:t>PRIVACY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73168" y="16916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21B2C"/>
                </a:solidFill>
              </a:rPr>
              <a:t>NEVER input beneficiary names, locations, health data, or identifiable information into public AI tools (ChatGPT, Claude, Gemini).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770632"/>
            <a:ext cx="3977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770632"/>
            <a:ext cx="397764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2770632"/>
            <a:ext cx="64008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1208" y="29077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65A82"/>
                </a:solidFill>
              </a:rPr>
              <a:t>ATTRIBUTION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" y="3200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21B2C"/>
                </a:solidFill>
              </a:rPr>
              <a:t>Be transparent when AI helped create content. Tell your team, your partners, your donors — honesty builds trust.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2770632"/>
            <a:ext cx="3977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0" y="2770632"/>
            <a:ext cx="397764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0" y="2770632"/>
            <a:ext cx="64008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73168" y="29077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97706"/>
                </a:solidFill>
              </a:rPr>
              <a:t>JUDGMENT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73168" y="3200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21B2C"/>
                </a:solidFill>
              </a:rPr>
              <a:t>AI recommends. Humans decide. Always. AI does not replace your expertise, your ethics, or your accountability.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343400"/>
            <a:ext cx="8503920" cy="502920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4343400"/>
            <a:ext cx="64008" cy="5029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438912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AI amplifies your capability. Your accountability never changes. PATH's mission depends on the communities who trust us.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AI Workshop —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2C39A"/>
                </a:solidFill>
              </a:rPr>
              <a:t>THE REVEAL — WHAT WAS ACTUALLY HAPPENING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Four AI Agents. One Button.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8138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2606040" cy="1298448"/>
          </a:xfrm>
          <a:prstGeom prst="rect">
            <a:avLst/>
          </a:prstGeom>
          <a:solidFill>
            <a:srgbClr val="062A3A"/>
          </a:solidFill>
          <a:ln w="12700">
            <a:solidFill>
              <a:srgbClr val="06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73152" cy="12984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028090"/>
                </a:solidFill>
              </a:rPr>
              <a:t>01  SCRIPT AGENT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</a:rPr>
              <a:t>Wrote every word the avatar said — live, in real time, never pre-written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</a:rPr>
              <a:t>Claude Opus API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83912" y="1261872"/>
            <a:ext cx="2606040" cy="1298448"/>
          </a:xfrm>
          <a:prstGeom prst="rect">
            <a:avLst/>
          </a:prstGeom>
          <a:solidFill>
            <a:srgbClr val="062A3A"/>
          </a:solidFill>
          <a:ln w="12700">
            <a:solidFill>
              <a:srgbClr val="06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83912" y="1261872"/>
            <a:ext cx="73152" cy="12984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66792" y="13716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028090"/>
                </a:solidFill>
              </a:rPr>
              <a:t>02  EMAIL WORKFLOW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792" y="1691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</a:rPr>
              <a:t>Fixed path — automated AI running on any incoming email 24/7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66792" y="23317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</a:rPr>
              <a:t>n8n + Claude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788920"/>
            <a:ext cx="4206240" cy="1298448"/>
          </a:xfrm>
          <a:prstGeom prst="rect">
            <a:avLst/>
          </a:prstGeom>
          <a:solidFill>
            <a:srgbClr val="062A3A"/>
          </a:solidFill>
          <a:ln w="12700">
            <a:solidFill>
              <a:srgbClr val="06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2788920"/>
            <a:ext cx="73152" cy="12984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28986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065A82"/>
                </a:solidFill>
              </a:rPr>
              <a:t>03  MEETING WORKFLOW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21868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</a:rPr>
              <a:t>Fixed path — transcript in, four outputs out, zero human involvement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8587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</a:rPr>
              <a:t>n8n + Claude Haiku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58216" y="2788920"/>
            <a:ext cx="4206240" cy="1298448"/>
          </a:xfrm>
          <a:prstGeom prst="rect">
            <a:avLst/>
          </a:prstGeom>
          <a:solidFill>
            <a:srgbClr val="062A3A"/>
          </a:solidFill>
          <a:ln w="12700">
            <a:solidFill>
              <a:srgbClr val="06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58216" y="2788920"/>
            <a:ext cx="73152" cy="12984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41096" y="28986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02C39A"/>
                </a:solidFill>
              </a:rPr>
              <a:t>04  EVIDENCE ENGINE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41096" y="321868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</a:rPr>
              <a:t>Agentic AI — planned its own research, evaluated quality, chose its refinement strategy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41096" y="38587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</a:rPr>
              <a:t>n8n + Claude Opus + Perplexity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4224528"/>
            <a:ext cx="850392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</a:rPr>
              <a:t>Total monthly cost: ~$20   ·   Build time: 1 week, evenings only   ·   Runs 24/7 without intervention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AI Workshop —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YOUR NEXT STEP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21B2C"/>
                </a:solidFill>
              </a:rPr>
              <a:t>Start This Week — One Change at a 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8138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" y="1399032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399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3533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1B2C"/>
                </a:solidFill>
              </a:rPr>
              <a:t>Paste your next meeting transcript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64592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After your next Teams or Zoom call, copy the transcript and paste it into Claude or the Meeting Pipeline tool. Get action items, follow-up email, and risk flags in 60 seconds.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223760" y="1490472"/>
            <a:ext cx="14173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223760" y="151790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Try it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249424"/>
            <a:ext cx="8503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8912" y="2386584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" y="2386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234086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1B2C"/>
                </a:solidFill>
              </a:rPr>
              <a:t>Use AI for your next desk review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63347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Next time you need to review evidence, submit a research question to the Evidence Intelligence Engine. Receive a structured brief calibrated to your audience in under a minute.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223760" y="2478024"/>
            <a:ext cx="14173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23760" y="250545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Try it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236976"/>
            <a:ext cx="8503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38912" y="3374136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8912" y="3374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33284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1B2C"/>
                </a:solidFill>
              </a:rPr>
              <a:t>Build one automated workflow this month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3621024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Pick the repetitive task that costs you the most time. Email triage. Report formatting. Weekly briefing. Start with n8n and one trigger. One output. Expand from there.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223760" y="3465576"/>
            <a:ext cx="14173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223760" y="349300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Try it this month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0040" y="42245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21B2C"/>
                </a:solidFill>
              </a:rPr>
              <a:t>You do not need to understand how it works.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i="1" dirty="0">
                <a:solidFill>
                  <a:srgbClr val="021B2C"/>
                </a:solidFill>
              </a:rPr>
              <a:t>You need to decide to start.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AI Workshop —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365760"/>
            <a:ext cx="2011680" cy="2011680"/>
          </a:xfrm>
          <a:prstGeom prst="ellipse">
            <a:avLst/>
          </a:prstGeom>
          <a:solidFill>
            <a:srgbClr val="062A3A"/>
          </a:solidFill>
          <a:ln w="12700">
            <a:solidFill>
              <a:srgbClr val="06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822960"/>
            <a:ext cx="1097280" cy="10972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</a:rPr>
              <a:t>AI does not change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</a:rPr>
              <a:t>what you care about.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E2E8F0"/>
                </a:solidFill>
              </a:rPr>
              <a:t>It removes the distance between how well you think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E2E8F0"/>
                </a:solidFill>
              </a:rPr>
              <a:t>and how much you can actually get done.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3090672"/>
            <a:ext cx="18288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2C39A"/>
                </a:solidFill>
              </a:rPr>
              <a:t>That is the only thing that changed. And it changed everything.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4160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1B2C"/>
                </a:solidFill>
              </a:rPr>
              <a:t>Abhinav Goyal  ·  Capacity Workshop  ·  Ask me anything — I will reply with AI assistance so you can see the quality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1B2C"/>
                </a:solidFill>
              </a:rPr>
              <a:t>Responsible AI  ·  Real Workflows  ·  Practical Tools  ·  One Button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1904</Words>
  <Application>Microsoft Office PowerPoint</Application>
  <PresentationFormat>On-screen Show (16:9)</PresentationFormat>
  <Paragraphs>423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At Work: From Tool to Infrastructure</dc:title>
  <dc:subject>PptxGenJS Presentation</dc:subject>
  <dc:creator>PATH AI Workshop</dc:creator>
  <cp:lastModifiedBy>Abhinav Goyal (Consultant)</cp:lastModifiedBy>
  <cp:revision>5</cp:revision>
  <dcterms:created xsi:type="dcterms:W3CDTF">2026-02-23T14:07:45Z</dcterms:created>
  <dcterms:modified xsi:type="dcterms:W3CDTF">2026-03-19T06:14:00Z</dcterms:modified>
</cp:coreProperties>
</file>